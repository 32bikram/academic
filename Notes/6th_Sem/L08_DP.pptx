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5" r:id="rId7"/>
    <p:sldId id="260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82979-E4D6-C55F-08A6-3702966B07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64B82-6256-0B7A-267B-016243E08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ECFFB-C1AA-77F5-D813-57C3E363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27E34-F709-2912-9EDA-C73329221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D9ACE-55D4-6F94-2A81-8F15CEC1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36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082E-335F-F170-64F0-05B2A949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397A-D3D1-1B27-7565-C40569C5B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A769C-C6BF-2251-C640-41C15EC1A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83567-8250-68B3-7034-AB687C32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276BE-CC24-3EE1-C220-DF5E4825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59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0BC7-7D0F-C07F-F183-F87ABB13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7D71A-E11E-77B5-B6EE-475001681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66E31-7AF9-AE3A-7622-ACF341766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EE00-2D6B-BC0A-7109-C6C86959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4A29E-C045-CA2A-48B8-157754201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23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385A-B11C-D23C-47E0-12411DCF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91E7-5DC7-ECC0-D667-D404B888D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390D2F-AC3B-DFFC-DEB3-73CBAA0E4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488A2-EBFD-C824-FE69-F7AC2A7D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C8B51A-BF07-AB43-695D-7D94C3D42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867E95-6A1F-94EA-B256-A2ED5C17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34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4122-EF69-191A-CEBD-3694A4C4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F805D-C616-0C64-34FD-9946BCF5A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56361-C803-2524-F3DB-C3511380D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4ED197-761D-3C0E-DA1F-6A72388637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31A61-F4F7-5CF2-1634-3BC9EE113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782EE-6727-7A6E-6097-83C5A211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41697-4AF3-211E-C8D6-58C10256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069CB-31F6-1891-8DA5-40A3C6B9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98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B7FE-B8EB-4157-DBAE-7F0604300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1358BA-136C-7509-720E-559C1D6D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7FDBA-0FA5-5481-71B9-0A3D11C9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BC51C-8638-97B8-48B0-1F478BC1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35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5EE71-E4D0-4CEA-F8C6-D092A99ED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9E5DA-D38C-EDAB-65B1-C192B321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1C386-1E9F-37FF-D009-355F3DBA8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11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D05B3-4250-26BB-1091-41DFFF362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B169B-53BA-98E3-5B23-F3710A551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64321-0F61-5C03-2CDB-77015B995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DF484-8124-3A16-BD86-A0AE0F35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8B403-C1D4-521E-858E-08B3798CF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3DEB3-F96B-5494-6562-EF99A0C2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07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20BB-2D03-926E-6D3B-3A81FFA2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047421-EFC6-3E1A-9F64-FF0F8C9D09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B41F2-BEEF-C451-0443-D741C4E18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B4218F-9258-7BF0-6C0D-C9EA5F22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F5FE1C-032B-047A-0C4F-AB248050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3F134-B7FA-3168-E3DB-DCF35934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03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F9EB-B272-402D-D621-31EE04840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E7B9B-4B7C-3CA6-1489-115E77017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8155-FC9F-E89E-FA94-441B19C6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5B199-661D-05BA-5A3C-10EC4184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AC554-6C40-9FF8-6256-8883B52AC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93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69C59-395D-7601-29C6-B81BFB5A26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DE1D56-CC18-F08A-316D-B0BBF95F1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91DD-A73A-D545-144F-E6ACE8F3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5477E-E537-3924-9BA6-20DECE7D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1A266-155D-B183-8DB4-E9767A96E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78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E48B54-B665-2382-5941-DFED072A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59CB6-5F69-445C-8F6D-254647464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A3401-E5D1-EB63-5A1C-F28FB69021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045F1-F5DC-4C86-B434-2C38E5AE92D7}" type="datetimeFigureOut">
              <a:rPr lang="en-IN" smtClean="0"/>
              <a:t>19-03-2026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E5027-B818-A301-51C8-A3F755D20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9BD5AF-51FD-9BAF-54B8-E5F2CBE73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64C30-A19D-4C97-84ED-592736897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173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9DE2A-137A-7A37-D046-3E92BF8772EC}"/>
              </a:ext>
            </a:extLst>
          </p:cNvPr>
          <p:cNvSpPr txBox="1"/>
          <p:nvPr/>
        </p:nvSpPr>
        <p:spPr>
          <a:xfrm>
            <a:off x="1295400" y="1629171"/>
            <a:ext cx="977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00B0F0"/>
                </a:solidFill>
              </a:rPr>
              <a:t>Solving  Fibonacci Problem and 0/1 Knapsack Problem Using Dynamic 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4A07B-5621-8778-252D-E333D9489B5C}"/>
              </a:ext>
            </a:extLst>
          </p:cNvPr>
          <p:cNvSpPr txBox="1"/>
          <p:nvPr/>
        </p:nvSpPr>
        <p:spPr>
          <a:xfrm>
            <a:off x="3611880" y="3323889"/>
            <a:ext cx="4968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Presented By -  Bikram Sarkar</a:t>
            </a:r>
          </a:p>
          <a:p>
            <a:pPr algn="ctr"/>
            <a:r>
              <a:rPr lang="en-IN" sz="2400" dirty="0"/>
              <a:t>Roll – 302411001008</a:t>
            </a:r>
          </a:p>
          <a:p>
            <a:pPr algn="ctr"/>
            <a:r>
              <a:rPr lang="en-IN" sz="2400" dirty="0"/>
              <a:t>3</a:t>
            </a:r>
            <a:r>
              <a:rPr lang="en-IN" sz="2400" baseline="30000" dirty="0"/>
              <a:t>rd</a:t>
            </a:r>
            <a:r>
              <a:rPr lang="en-IN" sz="2400" dirty="0"/>
              <a:t> year, 2</a:t>
            </a:r>
            <a:r>
              <a:rPr lang="en-IN" sz="2400" baseline="30000" dirty="0"/>
              <a:t>nd</a:t>
            </a:r>
            <a:r>
              <a:rPr lang="en-IN" sz="2400" dirty="0"/>
              <a:t> Semester</a:t>
            </a:r>
          </a:p>
          <a:p>
            <a:pPr algn="ctr"/>
            <a:r>
              <a:rPr lang="en-IN" sz="2400" dirty="0"/>
              <a:t>Date – 19</a:t>
            </a:r>
            <a:r>
              <a:rPr lang="en-IN" sz="2400" baseline="30000" dirty="0"/>
              <a:t>th</a:t>
            </a:r>
            <a:r>
              <a:rPr lang="en-IN" sz="2400" dirty="0"/>
              <a:t> march, 2026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36DC097-E052-F1C9-2A46-8197272B2E68}"/>
              </a:ext>
            </a:extLst>
          </p:cNvPr>
          <p:cNvCxnSpPr/>
          <p:nvPr/>
        </p:nvCxnSpPr>
        <p:spPr>
          <a:xfrm>
            <a:off x="7752080" y="6390640"/>
            <a:ext cx="391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47E11F0-07EE-6012-4BC1-0D066CEC0B2B}"/>
              </a:ext>
            </a:extLst>
          </p:cNvPr>
          <p:cNvCxnSpPr/>
          <p:nvPr/>
        </p:nvCxnSpPr>
        <p:spPr>
          <a:xfrm>
            <a:off x="11663680" y="3860800"/>
            <a:ext cx="0" cy="2529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556B63-B128-2DBD-F874-C9025D2B71EE}"/>
              </a:ext>
            </a:extLst>
          </p:cNvPr>
          <p:cNvCxnSpPr/>
          <p:nvPr/>
        </p:nvCxnSpPr>
        <p:spPr>
          <a:xfrm>
            <a:off x="508000" y="599440"/>
            <a:ext cx="0" cy="2255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DE6F71-7545-B6C1-ABBB-9198D5A452C4}"/>
              </a:ext>
            </a:extLst>
          </p:cNvPr>
          <p:cNvCxnSpPr/>
          <p:nvPr/>
        </p:nvCxnSpPr>
        <p:spPr>
          <a:xfrm>
            <a:off x="518160" y="599440"/>
            <a:ext cx="37287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85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333FFF-EAF5-387F-F0D3-240137C350FB}"/>
              </a:ext>
            </a:extLst>
          </p:cNvPr>
          <p:cNvSpPr txBox="1"/>
          <p:nvPr/>
        </p:nvSpPr>
        <p:spPr>
          <a:xfrm>
            <a:off x="1030224" y="204216"/>
            <a:ext cx="7312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Concept of Dynamic Programming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68248-6B5E-9466-8254-E8E8FD51040D}"/>
              </a:ext>
            </a:extLst>
          </p:cNvPr>
          <p:cNvSpPr txBox="1"/>
          <p:nvPr/>
        </p:nvSpPr>
        <p:spPr>
          <a:xfrm>
            <a:off x="1030224" y="1069848"/>
            <a:ext cx="1013155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Techniques to solve complex problems by breaking them into subproblems.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Stores results of subproblems to avoid </a:t>
            </a:r>
            <a:r>
              <a:rPr lang="en-IN" sz="3200" dirty="0" err="1"/>
              <a:t>recomputation</a:t>
            </a:r>
            <a:r>
              <a:rPr lang="en-IN" sz="3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There are two approaches : Memorization(Top-Down Approach) and Tabulation approach(Bottom-Up).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Used when problems have overlapping subproblems and optimal  substructure.</a:t>
            </a:r>
          </a:p>
        </p:txBody>
      </p:sp>
    </p:spTree>
    <p:extLst>
      <p:ext uri="{BB962C8B-B14F-4D97-AF65-F5344CB8AC3E}">
        <p14:creationId xmlns:p14="http://schemas.microsoft.com/office/powerpoint/2010/main" val="275149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9CB490-FF46-6CDB-1D4D-E0458AE7381E}"/>
              </a:ext>
            </a:extLst>
          </p:cNvPr>
          <p:cNvSpPr txBox="1"/>
          <p:nvPr/>
        </p:nvSpPr>
        <p:spPr>
          <a:xfrm>
            <a:off x="1061720" y="284480"/>
            <a:ext cx="3982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Fibonacci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A3CE3-A9F7-2B40-C8ED-CA22ADC75DBD}"/>
              </a:ext>
            </a:extLst>
          </p:cNvPr>
          <p:cNvSpPr txBox="1"/>
          <p:nvPr/>
        </p:nvSpPr>
        <p:spPr>
          <a:xfrm>
            <a:off x="1061720" y="1413063"/>
            <a:ext cx="725932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Recursive relation: F(n) = F(n-1) + F(n-2)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Base Case: F(0) = 0, F(1)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The Recursive approach has exponential time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DP reduces time complexity to O(n)</a:t>
            </a:r>
          </a:p>
        </p:txBody>
      </p:sp>
    </p:spTree>
    <p:extLst>
      <p:ext uri="{BB962C8B-B14F-4D97-AF65-F5344CB8AC3E}">
        <p14:creationId xmlns:p14="http://schemas.microsoft.com/office/powerpoint/2010/main" val="426902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CDD393-2AA1-976A-B219-AA013726FFC8}"/>
              </a:ext>
            </a:extLst>
          </p:cNvPr>
          <p:cNvSpPr txBox="1"/>
          <p:nvPr/>
        </p:nvSpPr>
        <p:spPr>
          <a:xfrm>
            <a:off x="934720" y="264160"/>
            <a:ext cx="7843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Fibonacci Decision Tree (Recursive)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56A720-3F33-F96D-9C5B-BE91FF3DE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66" y="1325888"/>
            <a:ext cx="9793067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76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08AAB0-A650-DB11-7CC7-13D66AF4D618}"/>
              </a:ext>
            </a:extLst>
          </p:cNvPr>
          <p:cNvSpPr txBox="1"/>
          <p:nvPr/>
        </p:nvSpPr>
        <p:spPr>
          <a:xfrm>
            <a:off x="1087120" y="335280"/>
            <a:ext cx="650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Fibonacci Using DP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6B0F52-FBE8-A961-CEBB-FCB0BFCEFA19}"/>
              </a:ext>
            </a:extLst>
          </p:cNvPr>
          <p:cNvSpPr txBox="1"/>
          <p:nvPr/>
        </p:nvSpPr>
        <p:spPr>
          <a:xfrm>
            <a:off x="1087120" y="1043166"/>
            <a:ext cx="819912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Memorization: Store computed values in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Tabulation: Build solution from bottom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Example: </a:t>
            </a:r>
          </a:p>
          <a:p>
            <a:pPr marL="1714500" lvl="4" indent="0">
              <a:buNone/>
            </a:pPr>
            <a:r>
              <a:rPr lang="en-IN" sz="3200" dirty="0" err="1"/>
              <a:t>dp</a:t>
            </a:r>
            <a:r>
              <a:rPr lang="en-IN" sz="3200" dirty="0"/>
              <a:t>[0]=0, </a:t>
            </a:r>
            <a:r>
              <a:rPr lang="en-IN" sz="3200" dirty="0" err="1"/>
              <a:t>dp</a:t>
            </a:r>
            <a:r>
              <a:rPr lang="en-IN" sz="3200" dirty="0"/>
              <a:t>[1]=1</a:t>
            </a:r>
          </a:p>
          <a:p>
            <a:pPr marL="1714500" lvl="4" indent="0">
              <a:buNone/>
            </a:pPr>
            <a:r>
              <a:rPr lang="en-IN" sz="3200" dirty="0"/>
              <a:t>for </a:t>
            </a:r>
            <a:r>
              <a:rPr lang="en-IN" sz="3200" dirty="0" err="1"/>
              <a:t>i</a:t>
            </a:r>
            <a:r>
              <a:rPr lang="en-IN" sz="3200" dirty="0"/>
              <a:t> &lt;- 2 in to n: </a:t>
            </a:r>
          </a:p>
          <a:p>
            <a:pPr marL="1714500" lvl="4" indent="0">
              <a:buNone/>
            </a:pPr>
            <a:r>
              <a:rPr lang="en-IN" sz="3200" dirty="0" err="1"/>
              <a:t>dp</a:t>
            </a:r>
            <a:r>
              <a:rPr lang="en-IN" sz="3200" dirty="0"/>
              <a:t>[</a:t>
            </a:r>
            <a:r>
              <a:rPr lang="en-IN" sz="3200" dirty="0" err="1"/>
              <a:t>i</a:t>
            </a:r>
            <a:r>
              <a:rPr lang="en-IN" sz="3200" dirty="0"/>
              <a:t>]=</a:t>
            </a:r>
            <a:r>
              <a:rPr lang="en-IN" sz="3200" dirty="0" err="1"/>
              <a:t>dp</a:t>
            </a:r>
            <a:r>
              <a:rPr lang="en-IN" sz="3200" dirty="0"/>
              <a:t>[i-1]+</a:t>
            </a:r>
            <a:r>
              <a:rPr lang="en-IN" sz="3200" dirty="0" err="1"/>
              <a:t>dp</a:t>
            </a:r>
            <a:r>
              <a:rPr lang="en-IN" sz="3200" dirty="0"/>
              <a:t>[i-2]</a:t>
            </a:r>
          </a:p>
          <a:p>
            <a:pPr marL="1714500" lvl="4" indent="0">
              <a:buNone/>
            </a:pP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Time: O(n), Space: O(n)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Optimized: use only 2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Recurrence Relation: 2T(n-1)+1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A6F89-1F5B-E8F5-6CF4-CD587A07F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527" y="2306509"/>
            <a:ext cx="3229426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1F5818-C1D1-E38C-46F4-CA5C64E9C2D1}"/>
              </a:ext>
            </a:extLst>
          </p:cNvPr>
          <p:cNvSpPr txBox="1"/>
          <p:nvPr/>
        </p:nvSpPr>
        <p:spPr>
          <a:xfrm>
            <a:off x="934720" y="264160"/>
            <a:ext cx="7843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Fibonacci Decision Tree (DP)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8D252A-804C-FFED-0121-A4C2E4538C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66" y="1325888"/>
            <a:ext cx="9793067" cy="44297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CE3630-2FBC-035D-0859-B947E0DEA500}"/>
              </a:ext>
            </a:extLst>
          </p:cNvPr>
          <p:cNvSpPr/>
          <p:nvPr/>
        </p:nvSpPr>
        <p:spPr>
          <a:xfrm>
            <a:off x="7324344" y="3758184"/>
            <a:ext cx="3630168" cy="21122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14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CE10F5-7452-3FD0-2DAD-852485523B55}"/>
              </a:ext>
            </a:extLst>
          </p:cNvPr>
          <p:cNvSpPr txBox="1"/>
          <p:nvPr/>
        </p:nvSpPr>
        <p:spPr>
          <a:xfrm>
            <a:off x="1127760" y="254000"/>
            <a:ext cx="8625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Knapsack Problem (0/1)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A6A2F8-B01F-E9A8-2FC4-2232F75D0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760" y="1214121"/>
            <a:ext cx="8229600" cy="3054096"/>
          </a:xfrm>
        </p:spPr>
        <p:txBody>
          <a:bodyPr>
            <a:normAutofit fontScale="92500" lnSpcReduction="20000"/>
          </a:bodyPr>
          <a:lstStyle/>
          <a:p>
            <a:r>
              <a:rPr sz="3200" dirty="0"/>
              <a:t>Given weights and values of items</a:t>
            </a:r>
          </a:p>
          <a:p>
            <a:r>
              <a:rPr sz="3200" dirty="0"/>
              <a:t>Goal: Maximize value within capacity</a:t>
            </a:r>
          </a:p>
          <a:p>
            <a:r>
              <a:rPr sz="3200" dirty="0"/>
              <a:t>Each item can be taken or not taken</a:t>
            </a:r>
          </a:p>
          <a:p>
            <a:r>
              <a:rPr sz="3200" dirty="0"/>
              <a:t>Recursive decision:</a:t>
            </a:r>
          </a:p>
          <a:p>
            <a:r>
              <a:rPr sz="3200" dirty="0"/>
              <a:t>max(include, exclude)</a:t>
            </a:r>
            <a:endParaRPr lang="en-IN" sz="3200" dirty="0"/>
          </a:p>
          <a:p>
            <a:r>
              <a:rPr lang="en-IN" sz="3200" dirty="0"/>
              <a:t>Can be represented in variable {X2,X4} or fixed size {0,1,0,1} solution format.</a:t>
            </a: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2335693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65240A-8207-81A3-A614-5E00AC75A80F}"/>
              </a:ext>
            </a:extLst>
          </p:cNvPr>
          <p:cNvSpPr txBox="1"/>
          <p:nvPr/>
        </p:nvSpPr>
        <p:spPr>
          <a:xfrm>
            <a:off x="965200" y="304800"/>
            <a:ext cx="7691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Solving Using Tabular Methode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39C720-F79E-DF47-48EE-C9A35D15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1515201"/>
            <a:ext cx="4191585" cy="20481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0D53BF-4A9E-CBA0-8DD0-2184DA7802A9}"/>
              </a:ext>
            </a:extLst>
          </p:cNvPr>
          <p:cNvSpPr txBox="1"/>
          <p:nvPr/>
        </p:nvSpPr>
        <p:spPr>
          <a:xfrm>
            <a:off x="972527" y="1004312"/>
            <a:ext cx="10068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Let there is 4 items with weights and profit are given </a:t>
            </a:r>
            <a:r>
              <a:rPr lang="en-IN" dirty="0"/>
              <a:t>-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6B9BB-E3E8-AC89-4E04-2165236860BB}"/>
              </a:ext>
            </a:extLst>
          </p:cNvPr>
          <p:cNvSpPr txBox="1"/>
          <p:nvPr/>
        </p:nvSpPr>
        <p:spPr>
          <a:xfrm>
            <a:off x="972527" y="3429000"/>
            <a:ext cx="12161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Cells are filled using formula: </a:t>
            </a:r>
            <a:r>
              <a:rPr lang="en-IN" sz="2800" dirty="0"/>
              <a:t>V[</a:t>
            </a:r>
            <a:r>
              <a:rPr lang="en-IN" sz="2800" dirty="0" err="1"/>
              <a:t>i,w</a:t>
            </a:r>
            <a:r>
              <a:rPr lang="en-IN" sz="2800" dirty="0"/>
              <a:t>] = max{V[i-1, w], V[i-1,w-w[</a:t>
            </a:r>
            <a:r>
              <a:rPr lang="en-IN" sz="2800" dirty="0" err="1"/>
              <a:t>i</a:t>
            </a:r>
            <a:r>
              <a:rPr lang="en-IN" sz="2800" dirty="0"/>
              <a:t>]]+P[</a:t>
            </a:r>
            <a:r>
              <a:rPr lang="en-IN" sz="2800" dirty="0" err="1"/>
              <a:t>i</a:t>
            </a:r>
            <a:r>
              <a:rPr lang="en-IN" sz="2800" dirty="0"/>
              <a:t>]}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175E7E-4E9C-3FFD-3048-242379694A7B}"/>
              </a:ext>
            </a:extLst>
          </p:cNvPr>
          <p:cNvSpPr txBox="1"/>
          <p:nvPr/>
        </p:nvSpPr>
        <p:spPr>
          <a:xfrm>
            <a:off x="965200" y="4175760"/>
            <a:ext cx="10586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Since max weight is 8 so there will be 8 columns and 4 rows for 4 elements.</a:t>
            </a:r>
          </a:p>
        </p:txBody>
      </p:sp>
    </p:spTree>
    <p:extLst>
      <p:ext uri="{BB962C8B-B14F-4D97-AF65-F5344CB8AC3E}">
        <p14:creationId xmlns:p14="http://schemas.microsoft.com/office/powerpoint/2010/main" val="234889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920817-9FCF-1746-C8B5-9AC8D62C1B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315812"/>
              </p:ext>
            </p:extLst>
          </p:nvPr>
        </p:nvGraphicFramePr>
        <p:xfrm>
          <a:off x="2082800" y="1004183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35253627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1097099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4979851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9280914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2992647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7983881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40491283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1992233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7033941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34302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96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7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94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719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275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969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428B780-5097-6D4D-D30B-944AEA34E220}"/>
              </a:ext>
            </a:extLst>
          </p:cNvPr>
          <p:cNvSpPr txBox="1"/>
          <p:nvPr/>
        </p:nvSpPr>
        <p:spPr>
          <a:xfrm>
            <a:off x="782320" y="172720"/>
            <a:ext cx="7691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00B0F0"/>
                </a:solidFill>
              </a:rPr>
              <a:t>Solving Using Tabular Methode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2AE013-5A1C-E9DD-5056-32185EC9B455}"/>
              </a:ext>
            </a:extLst>
          </p:cNvPr>
          <p:cNvSpPr txBox="1"/>
          <p:nvPr/>
        </p:nvSpPr>
        <p:spPr>
          <a:xfrm>
            <a:off x="782320" y="3352800"/>
            <a:ext cx="1072896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Taking the max profit 8. That is for X4 and profit is 6 so remaining, 8-6 = 2. X4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Profit of 2 was achieved before X3, so X3 isn’t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For X2 profit of 2 is achieved. 2-2 = 0. X2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Profit 0 was present before X1 so its not taken.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/>
              <a:t>Final answer: {X2, X4} or {0,1,0,1}</a:t>
            </a:r>
          </a:p>
        </p:txBody>
      </p:sp>
    </p:spTree>
    <p:extLst>
      <p:ext uri="{BB962C8B-B14F-4D97-AF65-F5344CB8AC3E}">
        <p14:creationId xmlns:p14="http://schemas.microsoft.com/office/powerpoint/2010/main" val="409235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382DEE-A00E-6372-5E9A-36CA90737859}"/>
              </a:ext>
            </a:extLst>
          </p:cNvPr>
          <p:cNvSpPr txBox="1"/>
          <p:nvPr/>
        </p:nvSpPr>
        <p:spPr>
          <a:xfrm>
            <a:off x="1188720" y="1843950"/>
            <a:ext cx="981456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0" dirty="0">
                <a:solidFill>
                  <a:srgbClr val="00B0F0"/>
                </a:solidFill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523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480</Words>
  <Application>Microsoft Office PowerPoint</Application>
  <PresentationFormat>Widescreen</PresentationFormat>
  <Paragraphs>112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Edwardian Script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Bikram Sarkar</dc:creator>
  <cp:lastModifiedBy>Bikram Sarkar</cp:lastModifiedBy>
  <cp:revision>3</cp:revision>
  <dcterms:created xsi:type="dcterms:W3CDTF">2026-03-19T15:25:38Z</dcterms:created>
  <dcterms:modified xsi:type="dcterms:W3CDTF">2026-03-19T15:33:03Z</dcterms:modified>
</cp:coreProperties>
</file>